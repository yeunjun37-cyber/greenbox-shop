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c97aa38-2cd4-8519-65ef-b4c3268dc7e7}">
          <p14:sldIdLst>
            <p14:sldId id="256"/>
          </p14:sldIdLst>
        </p14:section>
        <p14:section name="목차" id="{39bc5655-8753-410a-5c72-f63aa0397e5f}">
          <p14:sldIdLst>
            <p14:sldId id="257"/>
          </p14:sldIdLst>
        </p14:section>
        <p14:section name="프로젝트 개요" id="{37ee8264-cc87-3714-e410-2b055551bcd8}">
          <p14:sldIdLst>
            <p14:sldId id="258"/>
          </p14:sldIdLst>
        </p14:section>
        <p14:section name="주제 선정" id="{73cd7d5b-5ed5-07e3-f682-2ed03b89de21}">
          <p14:sldIdLst>
            <p14:sldId id="259"/>
            <p14:sldId id="260"/>
          </p14:sldIdLst>
        </p14:section>
        <p14:section name="기획 의도" id="{0ade667a-5dac-6e0e-f2d0-b162757739cf}">
          <p14:sldIdLst>
            <p14:sldId id="261"/>
          </p14:sldIdLst>
        </p14:section>
        <p14:section name="요구사항 정의서" id="{3de3392b-4960-f5e3-7eb0-778a126bdb30}">
          <p14:sldIdLst>
            <p14:sldId id="262"/>
            <p14:sldId id="263"/>
          </p14:sldIdLst>
        </p14:section>
        <p14:section name="기능 정의서" id="{16d495d5-eee4-6e07-d699-5582c9053690}">
          <p14:sldIdLst>
            <p14:sldId id="264"/>
            <p14:sldId id="265"/>
          </p14:sldIdLst>
        </p14:section>
        <p14:section name="ERD" id="{4eda9622-e76d-052c-f000-9a03146902df}">
          <p14:sldIdLst>
            <p14:sldId id="266"/>
          </p14:sldIdLst>
        </p14:section>
        <p14:section name="테이블 정의서" id="{1ce79744-b76f-a9f7-e057-e9c5e7516d75}">
          <p14:sldIdLst>
            <p14:sldId id="267"/>
            <p14:sldId id="268"/>
            <p14:sldId id="269"/>
            <p14:sldId id="270"/>
            <p14:sldId id="271"/>
          </p14:sldIdLst>
        </p14:section>
        <p14:section name="화면 설계도" id="{3ebff41d-d5e1-d350-bffc-681f0ba5a37b}">
          <p14:sldIdLst>
            <p14:sldId id="272"/>
            <p14:sldId id="273"/>
            <p14:sldId id="274"/>
            <p14:sldId id="275"/>
          </p14:sldIdLst>
        </p14:section>
        <p14:section name="사이트맵" id="{932d74f8-9509-0fb2-7bb4-4e23b8f943c5}">
          <p14:sldIdLst>
            <p14:sldId id="276"/>
          </p14:sldIdLst>
        </p14:section>
        <p14:section name="개발 환경 · 일정 · 협업" id="{c3207087-83c6-132a-56d2-17857a3c0e5a}">
          <p14:sldIdLst>
            <p14:sldId id="277"/>
            <p14:sldId id="278"/>
            <p14:sldId id="279"/>
          </p14:sldIdLst>
        </p14:section>
        <p14:section name="마무리" id="{cb9af3bb-6ad1-f7fa-bda7-eea236f3c1b4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282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1팀 그린박스 · 쇼핑몰 프로젝트 설계 결과보고서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그린박스 GreenBox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반려식물 큐레이션 &amp; 관리 쇼핑몰 — 프로젝트 설계 결과보고서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[프로젝트Ⅰ] Spring Framework를 활용한 쇼핑몰 제작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1팀  그린박스   |   개발: 인연준 (1인 프로젝트)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0" y="146304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4884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64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프로젝트 개요 및 담당 범위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786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주제 선정 및 선정된 주제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4930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기획 의도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4074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요구사항 정의서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5321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기능 정의서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664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ERD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5786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테이블 정의서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33375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4930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화면 설계도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09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4074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사이트맵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0" y="51663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5321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개발 환경 · 일정 · Git 협업 전략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01 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1인 개발 · 모듈별 담당 범위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0052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회원 · 인증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feature/member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회원가입 / 로그인 (Spring Security)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마이페이지 · 회원정보 수정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공통 레이아웃 ·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4992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511" y="200527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상품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feature/product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메인 화면 · 카테고리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상품 목록 / 검색 / 상세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식물 맞춤 필터, 찜하기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81344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455664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863" y="200527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주문 · 결제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feature/order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장바구니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주문서 · 모의 결제 · 재고 차감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 식물 · 물주기 일정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997696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9272016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215" y="2005279"/>
            <a:ext cx="378562" cy="3785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관리자 · 게시판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feature/admin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관리자 대시보드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상품 / 주문 / 회원 관리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리뷰 · Q&amp;A · 공지사항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1인 프로젝트로 기획 · 설계 · 구현 · 테스트 전 과정을 직접 수행하며, 기능 모듈별 feature 브랜치로 나누어 버전관리합니다.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주제 선정 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후보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691640"/>
            <a:ext cx="7315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선정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반려식물 쇼핑몰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8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식물 맞춤 추천 + 구매 후 관리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차별성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구현 범위 적정성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5295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DB 설계 학습 효과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950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70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개발자 관심도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43708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합계 19 / 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후보 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밀키트 정기배송몰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578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구독 · 정기배송 중심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차별성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★★★☆☆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구현 범위 적정성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5295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★★★☆☆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 설계 학습 효과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950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370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개발자 관심도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3708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합계 14 / 20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4672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10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후보 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중고 카메라 거래몰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2578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개인 간 거래 · 검수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차별성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012680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구현 범위 적정성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012680" y="35295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★★☆☆☆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 설계 학습 효과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012680" y="3950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4370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개발자 관심도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012680" y="43708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★★★☆☆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합계 13 / 20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선정 사유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일반 쇼핑몰 기능(회원·상품·장바구니·주문·결제·관리자)을 모두 담으면서도, ‘식물 속성 필터’와 ‘내 식물 물주기 관리’로 차별점을 만들 수 있고 1인 개발 일정 안에 구현 가능한 범위입니다.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선정된 주제: 반려식물 쇼핑몰 ‘그린박스’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937760" cy="466344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GreenBox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반려식물 큐레이션 &amp; 관리 쇼핑몰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식물을 ‘사는 것’에서 끝내지 않고 ‘잘 키우는 것’까지 함께하는 쇼핑몰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766" y="173964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식물 맞춤 필터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키우기 난이도 · 필요 광량 · 반려동물 안전 여부로 우리 집에 맞는 식물 찾기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43600" y="271576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766" y="2900934"/>
            <a:ext cx="315468" cy="3154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0" y="2670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관리 가이드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0" y="30815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상품 상세에 물주기 주기, 빛 조건 등 관리 정보를 함께 제공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943600" y="3877056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766" y="4062222"/>
            <a:ext cx="315468" cy="3154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38313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내 식물 물주기 관리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0" y="42428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구매한 식물을 등록하면 다음 물주기 날짜를 계산해 D-day로 안내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943600" y="5038344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766" y="5223510"/>
            <a:ext cx="315468" cy="31546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58000" y="4992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쇼핑몰 기본 기능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858000" y="54041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회원 · 상품 · 장바구니 · 주문/결제 · 리뷰 · Q&amp;A · 관리자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03  PLANNING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기획 의도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101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배경 · 문제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우리 집 빛·환경에 맞는 식물을 고르기 어렵다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쇼핑몰은 상품 정보 위주라 키우는 법은 따로 찾아야 한다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반려동물에게 위험한 식물인지 확인하기 어렵다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41648" y="2926080"/>
            <a:ext cx="201168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1463040"/>
            <a:ext cx="34290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22" y="191018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해결 방향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06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난이도·광량·반려동물 안전 조건으로 고르는 맞춤 필터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상세 페이지에 관리 가이드를 함께 제공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구매한 식물을 ‘내 식물’로 등록해 물주기 일정 관리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790688" y="2926080"/>
            <a:ext cx="201168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0" y="1463040"/>
            <a:ext cx="34290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862" y="191018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기대 효과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606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구매 실패를 줄여 만족도와 재구매로 연결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구매 후에도 다시 찾아오는 쇼핑몰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회원~결제~관리자까지 실무형 쇼핑몰 구조를 Spring Boot로 학습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타깃 사용자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5394960"/>
            <a:ext cx="3429000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55040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2588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식물을 처음 키우는 1인 가구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297680" y="5394960"/>
            <a:ext cx="3429000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55504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반려동물과 함께 사는 가구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046720" y="5394960"/>
            <a:ext cx="3429000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5550408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82396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집들이·개업 선물 구매자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04  REQUIREMENTS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요구사항 정의서 (1/2)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1828800"/>
                <a:gridCol w="60807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회원가입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이메일·비밀번호·이름·연락처·주소 입력, 이메일 중복 확인, 비밀번호 BCrypt 암호화 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/ 로그아웃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Spring Security 폼 로그인, 권한(USER / ADMIN)에 따른 접근 제어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회원정보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회원정보 수정, 비밀번호 변경, 회원 탈퇴(논리 삭제)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목록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카테고리별 목록, 정렬(신상품·낮은가격·높은가격·인기순), 페이징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식물 맞춤 필터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키우기 난이도 · 필요 광량 · 반려동물 안전 여부 조건으로 필터링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검색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상품명 키워드 검색, 검색 결과 페이징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상세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이미지·가격·재고, 관리 가이드(물주기 주기·광량), 리뷰·Q&amp;A 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담기(동일 상품 수량 합산), 수량 변경, 선택 삭제, 합계 금액 계산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REQ-09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찜하기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찜 등록 / 해제, 마이페이지에서 찜 목록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주문서 작성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배송지 입력(기본 주소 불러오기), 주문 상품·결제 금액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모의 결제(카드 / 무통장) 후 주문 상태 변경, 재고 차감을 하나의 트랜잭션으로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내역 / 취소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목록·상세 조회, 결제완료 상태에서만 주문 취소 및 재고 복구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04  REQUIREMENTS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요구사항 정의서 (2/2)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1828800"/>
                <a:gridCol w="60807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리뷰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배송완료 상품에 별점·내용·사진 등록(주문 상품당 1회), 평균 별점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고객센터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Q&amp;A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문의 등록, 비밀글, 관리자 답변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고객센터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공지사항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공지 목록·상세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 등록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구매한 식물을 별명과 함께 ‘내 식물’로 등록, 물주기 주기 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물주기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물 준 날 + 주기로 다음 물주기 날짜 계산, D-day 및 임박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등록·수정·숨김, 이미지 업로드, 재고·판매 상태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REQ-19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주문 조회, 배송 상태 변경(결제완료→배송중→배송완료)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REQ-20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· 게시판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목록 조회·검색, Q&amp;A 답변, 공지사항 등록·수정·삭제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NFR-01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비밀번호 암호화, CSRF 방어, /admin/** URL 관리자 권한 제한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NFR-02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사용성 · 호환성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반응형 레이아웃(PC·모바일), Chrome · Edge 브라우저 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NFR-03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 · 형상관리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GitHub 브랜치 전략(main / develop / feature), PR 리뷰 후 병합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  FUNCTIONS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기능 정의서 (1/2)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960120"/>
                <a:gridCol w="1783080"/>
                <a:gridCol w="3977640"/>
                <a:gridCol w="2697480"/>
                <a:gridCol w="86868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ID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설명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요청 URL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회원가입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입력값 검증(@Valid) 후 저장, 이메일 중복 체크(AJAX)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GET·POST /member/join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이메일·비밀번호 인증, 실패 시 오류 메시지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GET·POST /member/login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무효화 후 메인으로 이동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/logout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회원정보 수정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연락처·주소·비밀번호 수정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GET·POST /mypage/info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탈퇴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비밀번호 재확인 후 deleted_yn = 'Y'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/mypage/withdraw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화면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신상품 · 베스트 · 초보자 추천 상품 노출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목록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 · 정렬 · 페이징 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/products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맞춤 필터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 · 광량 · 반려동물 안전 조건 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/products?difficulty=&amp;light=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검색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상품명 키워드 검색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/products?keyword=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상세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정보 · 관리 가이드 · 리뷰 · Q&amp;A 탭, 조회수 증가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/products/{id}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찜 등록 / 해제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토글 방식 AJAX 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/wish/{productId}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 담기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상품은 수량 합산, 재고 초과 시 안내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/cart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 조회 / 수정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 변경, 선택 삭제, 합계 계산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GET·PATCH·DELETE /cart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주문서 작성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상품 · 배송지 · 결제수단 입력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/order/form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  FUNCTIONS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기능 정의서 (2/2)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960120"/>
                <a:gridCol w="1783080"/>
                <a:gridCol w="3977640"/>
                <a:gridCol w="2697480"/>
                <a:gridCol w="86868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ID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설명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요청 URL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· 결제 저장, 재고 차감(@Transactional)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/order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내역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목록 · 상세 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/mypage/orders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취소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PAID 상태만 취소 가능, 재고 복구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/mypage/orders/{id}/cancel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 작성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배송완료 주문 상품당 1회, 사진 첨부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/reviews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Q&amp;A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문의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등록 · 비밀글 · 목록 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/qna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공지사항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 · 상세 조회, 조회수 증가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/notices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 등록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 이력이 있는 상품을 별명과 함께 등록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/myplants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물주기 기록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‘물 줬어요’ 클릭 시 다음 물주기 날짜 재계산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/myplants/{id}/water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주문 수 · 매출 · 재고 부족 상품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/admin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CRUD, 이미지 업로드, 판매 상태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/admin/products/**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조회, 배송 상태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/admin/orders/**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목록 · 검색 · 상세 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/admin/members/**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게시판 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Q&amp;A 답변, 공지 등록 · 수정 · 삭제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/admin/qna/**, /admin/notices/**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06  ERD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ERD (Entity Relationship Diagram)</a:t>
            </a:r>
            <a:endParaRPr lang="en-US" sz="3000" dirty="0"/>
          </a:p>
        </p:txBody>
      </p:sp>
      <p:pic>
        <p:nvPicPr>
          <p:cNvPr id="4" name="Image 0" descr="그린박스 ERD: 13개 테이블과 관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493861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16821" y="1371600"/>
            <a:ext cx="32960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핵심 관계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316821" y="1783080"/>
            <a:ext cx="3296059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MEMBER 1 : N ORDERS / CART_ITEM / WISHLIST / REVIEW / QNA / MY_PLANT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PRODUCT 1 : N ORDER_ITEM / CART_ITEM / REVIEW / QNA / PRODUCT_IMAGE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ORDERS 1 : N ORDER_ITEM, ORDERS 1 : 1 PAYMENT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ORDER_ITEM 1 : 0..1 REVIEW (구매 상품당 리뷰 1개)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CATEGORY 자기참조로 상·하위 카테고리 구성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16821" y="5394960"/>
            <a:ext cx="32960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PK 기본키   FK 외래키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‖ 1   ⋔ N   ○ 0(선택)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  TABLE SPEC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테이블 정의서 (1/5)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회원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email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이메일(아이디)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password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BCrypt 암호화 비밀번호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VARCHAR(30)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phone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zipcode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우편번호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address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주소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address_detail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주소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'USER'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권한 (USER / ADMIN)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deleted_yn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CHAR(1)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'N'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탈퇴 여부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updated_at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CATEGORY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카테고리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category_id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VARCHAR(50)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parent_id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상위 카테고리 (자기참조)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sort_order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 순서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172200" y="331927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PRODUCT_IMAGE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상품 이미지</a:t>
            </a:r>
            <a:endParaRPr lang="en-US" sz="14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666744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image_id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img_url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 경로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sort_order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순서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  TABLE SPEC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테이블 정의서 (2/5)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상품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category_id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price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stock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 수량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difficulty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 (EASY/NORMAL/HARD)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light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 광량 (LOW/MID/HIGH)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water_cycle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 물주기 주기(일)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pet_safe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CHAR(1)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'N'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반려동물 안전 여부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thumbnail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이미지 경로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'SALE'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 상태 (SALE/SOLDOUT/HIDDEN)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view_count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WISHLIST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찜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   UK(member_id, product_id)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wish_id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찜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172200" y="331927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CART_ITEM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장바구니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   UK(member_id, product_id)</a:t>
            </a:r>
            <a:endParaRPr lang="en-US" sz="14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666744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cart_item_id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장바구니 항목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quantity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담은 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  TABLE SPEC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테이블 정의서 (3/5)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ORDERS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주문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order_no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VARCHAR(30)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주문번호 (yyyyMMdd-xxxx)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total_price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결제 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ORDERED/PAID/SHIPPING/DELIVERED/CANCELED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receiver_name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VARCHAR(30)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수령인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receiver_phone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수령인 연락처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zipcode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우편번호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address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 주소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VARCHAR(200)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 요청사항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ORDER_ITEM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주문 상품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order_item_id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order_price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당시 단가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quantity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172200" y="35935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PAYMENT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결제</a:t>
            </a:r>
            <a:endParaRPr lang="en-US" sz="14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941064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payment_id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UK,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번호 (1:1)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method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결제수단 (CARD/BANK)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amount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PAID / CANCELED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paid_at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  TABLE SPEC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테이블 정의서 (4/5)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리뷰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review_id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order_item_id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UK,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상품 (1건당 1리뷰)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rating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TINYINT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별점 (1~5)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content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img_url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VARCHAR(255)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 사진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QNA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상품 문의</a:t>
            </a:r>
            <a:endParaRPr lang="en-US" sz="1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qna_id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title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content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secret_yn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CHAR(1)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'N'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비밀글 여부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answer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답변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answered_at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답변일시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  TABLE SPEC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테이블 정의서 (5/5)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NOTICE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공지사항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notice_id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공지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 관리자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title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VARCHAR(100)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content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view_count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NN, 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MY_PLANT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내 식물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733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제약조건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my_plant_id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PK,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식물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member_id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 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FK, 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구매한 식물 상품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nickname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VARCHAR(30)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식물 별명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water_cycle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물주기 주기(일, 수정 가능)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last_watered_at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물 준 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next_water_at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물주기 예정일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created_at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등록일시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  UI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설계도 (1/4) — 메인 · 상품 목록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11810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039112"/>
            <a:ext cx="5212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처음 키우는 식물, 실패 없이 시작하세요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우리 집 빛과 생활에 맞는 식물을 찾아드려요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" y="2724912"/>
            <a:ext cx="960120" cy="237744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식물 찾기 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6280" y="2130552"/>
            <a:ext cx="1234440" cy="8686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130552"/>
            <a:ext cx="1234440" cy="8686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130552"/>
            <a:ext cx="1234440" cy="8686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526280" y="2130552"/>
            <a:ext cx="1234440" cy="8686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27832"/>
            <a:ext cx="987552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초보자 추천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64792" y="3227832"/>
            <a:ext cx="987552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그늘에서도 OK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43784" y="3227832"/>
            <a:ext cx="987552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반려동물 안전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22776" y="3227832"/>
            <a:ext cx="987552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선물하기 좋은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신상품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더보기 &gt;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800" y="3822192"/>
            <a:ext cx="1188720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85800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636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몬스테라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8006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29,000원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63040" y="481888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쉬움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020824" y="3822192"/>
            <a:ext cx="1188720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0824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20824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020824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020824" y="4636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스투키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2020824" y="48006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18,000원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98064" y="481888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쉬움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355848" y="3822192"/>
            <a:ext cx="1188720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55848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55848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355848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355848" y="4636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올리브나무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3355848" y="48006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42,000원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133088" y="481888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보통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690872" y="3822192"/>
            <a:ext cx="1188720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90872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90872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690872" y="3822192"/>
            <a:ext cx="1188720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90872" y="4636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필레아 페페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4690872" y="48006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15,000원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68112" y="481888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쉬움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S-01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메인 화면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히어로 배너, 조건별 바로가기 칩(초보자·그늘·반려동물 안전), 신상품 · 베스트 상품 목록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53912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3" name="Shape 61"/>
          <p:cNvSpPr/>
          <p:nvPr/>
        </p:nvSpPr>
        <p:spPr>
          <a:xfrm>
            <a:off x="6263640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4" name="Shape 62"/>
          <p:cNvSpPr/>
          <p:nvPr/>
        </p:nvSpPr>
        <p:spPr>
          <a:xfrm>
            <a:off x="6391656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5" name="Shape 63"/>
          <p:cNvSpPr/>
          <p:nvPr/>
        </p:nvSpPr>
        <p:spPr>
          <a:xfrm>
            <a:off x="6519672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6" name="Text 64"/>
          <p:cNvSpPr/>
          <p:nvPr/>
        </p:nvSpPr>
        <p:spPr>
          <a:xfrm>
            <a:off x="6702552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greenbox.com/products?category=1&amp;difficulty=EASY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6291072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747979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810158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872337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9345168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10131552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153912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91072" y="2039112"/>
            <a:ext cx="1325880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382512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필터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6382512" y="2340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카테고리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6446520" y="25237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관엽식물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6446520" y="2688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다육 · 선인장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6446520" y="2852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화분 · 용품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6382512" y="3090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난이도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6446520" y="3273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☑ 쉬움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6446520" y="34381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☐ 보통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6446520" y="3602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☐ 어려움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6382512" y="3840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필요 광량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6446520" y="4023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☐ 음지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6446520" y="4187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☑ 반음지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6446520" y="43525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☐ 양지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6382512" y="4590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반려동물 안전만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251192" y="4617720"/>
            <a:ext cx="274320" cy="13716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7754112" y="2039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관엽식물 · 24개</a:t>
            </a:r>
            <a:endParaRPr 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9171432" y="2039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신상품 | 낮은가격 | 높은가격 | 인기순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754112" y="2359152"/>
            <a:ext cx="1161288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54112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54112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7754112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754112" y="317296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몬스테라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7754112" y="3337560"/>
            <a:ext cx="6967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29,000원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503920" y="335584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쉬움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9025128" y="2359152"/>
            <a:ext cx="1161288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25128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25128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9025128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025128" y="317296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스킨답서스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9025128" y="3337560"/>
            <a:ext cx="6967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12,000원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9774936" y="335584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반음지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0296144" y="2359152"/>
            <a:ext cx="1161288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296144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96144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10296144" y="2359152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296144" y="317296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고무나무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10296144" y="3337560"/>
            <a:ext cx="6967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25,000원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11045952" y="3355848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쉬움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7754112" y="3657600"/>
            <a:ext cx="1161288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54112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754112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7754112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754112" y="447141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아레카야자</a:t>
            </a:r>
            <a:endParaRPr lang="en-US" sz="750" dirty="0"/>
          </a:p>
        </p:txBody>
      </p:sp>
      <p:sp>
        <p:nvSpPr>
          <p:cNvPr id="118" name="Text 116"/>
          <p:cNvSpPr txBox="1"/>
          <p:nvPr/>
        </p:nvSpPr>
        <p:spPr>
          <a:xfrm>
            <a:off x="7754112" y="4636008"/>
            <a:ext cx="6967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38,000원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8503920" y="4654296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반음지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9025128" y="3657600"/>
            <a:ext cx="1161288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025128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25128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9025128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025128" y="447141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칼라데아</a:t>
            </a:r>
            <a:endParaRPr lang="en-US" sz="750" dirty="0"/>
          </a:p>
        </p:txBody>
      </p:sp>
      <p:sp>
        <p:nvSpPr>
          <p:cNvPr id="125" name="Text 123"/>
          <p:cNvSpPr txBox="1"/>
          <p:nvPr/>
        </p:nvSpPr>
        <p:spPr>
          <a:xfrm>
            <a:off x="9025128" y="4636008"/>
            <a:ext cx="6967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22,000원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9774936" y="4654296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쉬움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10296144" y="3657600"/>
            <a:ext cx="1161288" cy="77724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96144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296144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0296144" y="3657600"/>
            <a:ext cx="1161288" cy="77724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0296144" y="447141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스파티필름</a:t>
            </a:r>
            <a:endParaRPr lang="en-US" sz="750" dirty="0"/>
          </a:p>
        </p:txBody>
      </p:sp>
      <p:sp>
        <p:nvSpPr>
          <p:cNvPr id="132" name="Text 130"/>
          <p:cNvSpPr txBox="1"/>
          <p:nvPr/>
        </p:nvSpPr>
        <p:spPr>
          <a:xfrm>
            <a:off x="10296144" y="4636008"/>
            <a:ext cx="6967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16,000원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11045952" y="4654296"/>
            <a:ext cx="411480" cy="13716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반음지</a:t>
            </a:r>
            <a:endParaRPr lang="en-US" sz="650" dirty="0"/>
          </a:p>
        </p:txBody>
      </p:sp>
      <p:sp>
        <p:nvSpPr>
          <p:cNvPr id="134" name="Text 132"/>
          <p:cNvSpPr txBox="1"/>
          <p:nvPr/>
        </p:nvSpPr>
        <p:spPr>
          <a:xfrm>
            <a:off x="7754112" y="4965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‹  1  2  3  ›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6153912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S-02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상품 목록 · 식물 맞춤 필터</a:t>
            </a:r>
            <a:endParaRPr lang="en-US" sz="1400" dirty="0"/>
          </a:p>
        </p:txBody>
      </p:sp>
      <p:sp>
        <p:nvSpPr>
          <p:cNvPr id="136" name="Text 134"/>
          <p:cNvSpPr txBox="1"/>
          <p:nvPr/>
        </p:nvSpPr>
        <p:spPr>
          <a:xfrm>
            <a:off x="6153912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카테고리 · 난이도 · 광량 · 반려동물 안전 조건 필터, 정렬 탭, 3열 그리드, 페이징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  UI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설계도 (2/4) — 상품 상세 · 장바구니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greenbox.com/products/12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11810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1975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홈 &gt; 관엽식물 &gt; 몬스테라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85800" y="2203704"/>
            <a:ext cx="2194560" cy="18288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203704"/>
            <a:ext cx="2194560" cy="182880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203704"/>
            <a:ext cx="2194560" cy="182880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85800" y="2203704"/>
            <a:ext cx="2194560" cy="182880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96512"/>
            <a:ext cx="493776" cy="36576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85800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4096512"/>
            <a:ext cx="493776" cy="36576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2728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2728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252728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19656" y="4096512"/>
            <a:ext cx="493776" cy="36576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19656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19656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819656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86584" y="4096512"/>
            <a:ext cx="493776" cy="36576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86584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86584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386584" y="4096512"/>
            <a:ext cx="493776" cy="36576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08960" y="2203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몬스테라 델리시오사 (중형)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10896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2"/>
                </a:solidFill>
              </a:rPr>
              <a:t>★★★★☆ 4.6  (리뷰 128)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10896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29,000원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108960" y="3044952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난이도 쉬움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794760" y="3044952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반음지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480560" y="3044952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물주기 7일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166360" y="3044952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bg1"/>
                </a:solidFill>
              </a:rPr>
              <a:t>반려동물 주의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108960" y="3364992"/>
            <a:ext cx="27889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08960" y="3438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수량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51960" y="3456432"/>
            <a:ext cx="685800" cy="20116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51960" y="3456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−   1   +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3108960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총 상품금액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4480560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29,000원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108960" y="4096512"/>
            <a:ext cx="320040" cy="329184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♡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93008" y="4096512"/>
            <a:ext cx="1143000" cy="329184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장바구니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09160" y="4096512"/>
            <a:ext cx="1188720" cy="329184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바로 구매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" y="4599432"/>
            <a:ext cx="1280160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상세정보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93392" y="4599432"/>
            <a:ext cx="1280160" cy="237744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관리 가이드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00984" y="4599432"/>
            <a:ext cx="1280160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리뷰 (128)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08576" y="4599432"/>
            <a:ext cx="1280160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Q&amp;A (12)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777240" y="4892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💧 물주기: 겉흙이 마르면 듬뿍 (약 7일)   ☀ 빛: 밝은 간접광   🌡 18~27℃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77240" y="5166360"/>
            <a:ext cx="3840480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4864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S-03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상품 상세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상품 정보 · 식물 속성 뱃지, 수량 선택, 찜 · 장바구니 · 바로구매, 관리 가이드 / 리뷰 / Q&amp;A 탭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53912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4" name="Shape 62"/>
          <p:cNvSpPr/>
          <p:nvPr/>
        </p:nvSpPr>
        <p:spPr>
          <a:xfrm>
            <a:off x="6263640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5" name="Shape 63"/>
          <p:cNvSpPr/>
          <p:nvPr/>
        </p:nvSpPr>
        <p:spPr>
          <a:xfrm>
            <a:off x="6391656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6" name="Shape 64"/>
          <p:cNvSpPr/>
          <p:nvPr/>
        </p:nvSpPr>
        <p:spPr>
          <a:xfrm>
            <a:off x="6519672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7" name="Text 65"/>
          <p:cNvSpPr/>
          <p:nvPr/>
        </p:nvSpPr>
        <p:spPr>
          <a:xfrm>
            <a:off x="6702552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greenbox.com/cart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6291072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747979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810158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872337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9345168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10131552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153912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291072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장바구니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291072" y="2359152"/>
            <a:ext cx="3566160" cy="2560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35508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☑ 전체선택        상품정보                     수량          금액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6355080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☑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592824" y="2724912"/>
            <a:ext cx="411480" cy="4114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92824" y="272491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92824" y="272491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6592824" y="272491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068312" y="2816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몬스테라 델리시오사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485632" y="2834640"/>
            <a:ext cx="566928" cy="182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485632" y="28346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−  1  +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9079992" y="28163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29,000원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9701784" y="281635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✕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291072" y="3209544"/>
            <a:ext cx="35661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355080" y="3364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☑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592824" y="3273552"/>
            <a:ext cx="411480" cy="4114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592824" y="327355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92824" y="327355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6592824" y="327355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068312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토분 15cm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485632" y="3383280"/>
            <a:ext cx="566928" cy="182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485632" y="3383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−  1  +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9079992" y="33649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8,000원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9701784" y="336499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✕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291072" y="3758184"/>
            <a:ext cx="35661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355080" y="3913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☑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592824" y="3822192"/>
            <a:ext cx="411480" cy="4114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592824" y="382219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592824" y="382219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6592824" y="3822192"/>
            <a:ext cx="411480" cy="41148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068312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분갈이 흙 2L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8485632" y="3931920"/>
            <a:ext cx="566928" cy="182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485632" y="39319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−  1  +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9079992" y="3913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4,500원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9701784" y="39136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✕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291072" y="4306824"/>
            <a:ext cx="35661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91072" y="4370832"/>
            <a:ext cx="777240" cy="21945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선택 삭제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9994392" y="2359152"/>
            <a:ext cx="150876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10104120" y="24323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결제 예정 금액</a:t>
            </a:r>
            <a:endParaRPr lang="en-US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10104120" y="2770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상품금액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10680192" y="2770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41,500원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10104120" y="3017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배송비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10680192" y="3017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0원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0104120" y="3319272"/>
            <a:ext cx="129844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010412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합계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10588752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41,500원</a:t>
            </a:r>
            <a:endParaRPr lang="en-US" sz="1000" dirty="0"/>
          </a:p>
        </p:txBody>
      </p:sp>
      <p:sp>
        <p:nvSpPr>
          <p:cNvPr id="121" name="Text 119"/>
          <p:cNvSpPr txBox="1"/>
          <p:nvPr/>
        </p:nvSpPr>
        <p:spPr>
          <a:xfrm>
            <a:off x="10104120" y="36850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chemeClr val="accent5"/>
                </a:solidFill>
              </a:rPr>
              <a:t>3만원 이상 무료배송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10104120" y="3977640"/>
            <a:ext cx="1298448" cy="347472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주문하기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6153912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S-04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장바구니</a:t>
            </a:r>
            <a:endParaRPr lang="en-US" sz="1400" dirty="0"/>
          </a:p>
        </p:txBody>
      </p:sp>
      <p:sp>
        <p:nvSpPr>
          <p:cNvPr id="124" name="Text 122"/>
          <p:cNvSpPr txBox="1"/>
          <p:nvPr/>
        </p:nvSpPr>
        <p:spPr>
          <a:xfrm>
            <a:off x="6153912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상품별 체크 · 수량 변경 · 삭제, 선택 상품 기준 결제 예정 금액 자동 계산, 주문하기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  UI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설계도 (3/4) — 주문/결제 · 주문내역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greenbox.com/order/form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11810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주문 / 결제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331720"/>
            <a:ext cx="356616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368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배송지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0" y="2386584"/>
            <a:ext cx="96012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chemeClr val="tx2"/>
                </a:solidFill>
              </a:rPr>
              <a:t>기본 배송지 불러오기</a:t>
            </a:r>
            <a:endParaRPr lang="en-US" sz="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받는 분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71600" y="2624328"/>
            <a:ext cx="1463040" cy="1737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2852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연락처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371600" y="2871216"/>
            <a:ext cx="1463040" cy="1737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099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주소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371600" y="3118104"/>
            <a:ext cx="731520" cy="1737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3118104"/>
            <a:ext cx="594360" cy="173736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주소 검색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371600" y="3346704"/>
            <a:ext cx="2743200" cy="1737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685032"/>
            <a:ext cx="35661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712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주문 상품 (2)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3941064"/>
            <a:ext cx="219456" cy="219456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3941064"/>
            <a:ext cx="219456" cy="219456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3941064"/>
            <a:ext cx="219456" cy="219456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77240" y="3941064"/>
            <a:ext cx="219456" cy="219456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3941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몬스테라 델리시오사 × 1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383280" y="39410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29,000원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7240" y="4197096"/>
            <a:ext cx="219456" cy="219456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4197096"/>
            <a:ext cx="219456" cy="219456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4197096"/>
            <a:ext cx="219456" cy="219456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77240" y="4197096"/>
            <a:ext cx="219456" cy="219456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" y="41970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토분 15cm × 1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41970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8,000원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5800" y="4553712"/>
            <a:ext cx="35661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4581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결제 수단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4828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◉ 신용카드      ○ 무통장입금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389120" y="2331720"/>
            <a:ext cx="1508760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98848" y="2404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최종 결제 금액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498848" y="272491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37,000원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498848" y="3136392"/>
            <a:ext cx="129844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98848" y="32278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☑ 주문 내용 확인 및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   결제에 동의합니다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498848" y="3959352"/>
            <a:ext cx="1298448" cy="36576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결제하기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S-05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주문 / 결제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배송지 입력(기본 주소 불러오기 · 주소 검색), 주문 상품 확인, 결제수단 선택 후 모의 결제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53912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6" name="Shape 54"/>
          <p:cNvSpPr/>
          <p:nvPr/>
        </p:nvSpPr>
        <p:spPr>
          <a:xfrm>
            <a:off x="6263640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7" name="Shape 55"/>
          <p:cNvSpPr/>
          <p:nvPr/>
        </p:nvSpPr>
        <p:spPr>
          <a:xfrm>
            <a:off x="6391656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8" name="Shape 56"/>
          <p:cNvSpPr/>
          <p:nvPr/>
        </p:nvSpPr>
        <p:spPr>
          <a:xfrm>
            <a:off x="6519672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9" name="Text 57"/>
          <p:cNvSpPr/>
          <p:nvPr/>
        </p:nvSpPr>
        <p:spPr>
          <a:xfrm>
            <a:off x="6702552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greenbox.com/mypage/orders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6291072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47979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810158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72337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9345168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10131552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53912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91072" y="2084832"/>
            <a:ext cx="1188720" cy="3063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4008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마이페이지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6400800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주문내역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0" y="2807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찜 목록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0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리뷰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640080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6400800" y="3685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회원정보 수정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640080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회원 탈퇴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7616952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주문내역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616952" y="2386584"/>
            <a:ext cx="914400" cy="3657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결제완료 1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595360" y="2386584"/>
            <a:ext cx="914400" cy="3657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배송중 1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573768" y="2386584"/>
            <a:ext cx="914400" cy="3657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배송완료 3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552176" y="2386584"/>
            <a:ext cx="914400" cy="3657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취소 0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616952" y="2907792"/>
            <a:ext cx="3886200" cy="640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708392" y="2944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chemeClr val="accent5"/>
                </a:solidFill>
              </a:rPr>
              <a:t>2026.10.20  ·  주문번호 20261020-0012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7708392" y="3136392"/>
            <a:ext cx="347472" cy="34747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08392" y="313639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08392" y="313639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7708392" y="313639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119872" y="3136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몬스테라 외 1건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8119872" y="33192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37,000원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9491472" y="3209544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bg1"/>
                </a:solidFill>
              </a:rPr>
              <a:t>배송중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0680192" y="3182112"/>
            <a:ext cx="731520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tx2"/>
                </a:solidFill>
              </a:rPr>
              <a:t>배송조회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616952" y="3639312"/>
            <a:ext cx="3886200" cy="640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708392" y="36758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chemeClr val="accent5"/>
                </a:solidFill>
              </a:rPr>
              <a:t>2026.10.12  ·  주문번호 20261012-0011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7708392" y="3867912"/>
            <a:ext cx="347472" cy="34747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08392" y="386791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08392" y="386791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7708392" y="386791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119872" y="38679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스투키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8119872" y="40507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18,000원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9491472" y="3941064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배송완료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10680192" y="3913632"/>
            <a:ext cx="731520" cy="237744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</a:rPr>
              <a:t>리뷰쓰기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616952" y="4370832"/>
            <a:ext cx="3886200" cy="640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708392" y="44074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chemeClr val="accent5"/>
                </a:solidFill>
              </a:rPr>
              <a:t>2026.10.03  ·  주문번호 20261003-0010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708392" y="4599432"/>
            <a:ext cx="347472" cy="34747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708392" y="459943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08392" y="459943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7708392" y="4599432"/>
            <a:ext cx="347472" cy="347472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119872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필레아 페페</a:t>
            </a:r>
            <a:endParaRPr lang="en-US" sz="800" dirty="0"/>
          </a:p>
        </p:txBody>
      </p:sp>
      <p:sp>
        <p:nvSpPr>
          <p:cNvPr id="107" name="Text 105"/>
          <p:cNvSpPr txBox="1"/>
          <p:nvPr/>
        </p:nvSpPr>
        <p:spPr>
          <a:xfrm>
            <a:off x="8119872" y="47823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15,000원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9491472" y="4672584"/>
            <a:ext cx="640080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결제완료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10680192" y="4645152"/>
            <a:ext cx="731520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tx2"/>
                </a:solidFill>
              </a:rPr>
              <a:t>주문취소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6153912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S-06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마이페이지 — 주문내역</a:t>
            </a:r>
            <a:endParaRPr lang="en-US" sz="1400" dirty="0"/>
          </a:p>
        </p:txBody>
      </p:sp>
      <p:sp>
        <p:nvSpPr>
          <p:cNvPr id="111" name="Text 109"/>
          <p:cNvSpPr txBox="1"/>
          <p:nvPr/>
        </p:nvSpPr>
        <p:spPr>
          <a:xfrm>
            <a:off x="6153912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상태별 주문 건수, 주문 카드 목록. 결제완료 → 주문취소, 배송완료 → 리뷰쓰기 버튼 노출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  UI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설계도 (4/4) — 내 식물 · 관리자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greenbox.com/myplants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18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GreenBox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전체상품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식물찾기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118104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고객센터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검색  ♡  장바구니(2)  MY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1929384"/>
            <a:ext cx="5486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084832"/>
            <a:ext cx="1188720" cy="3063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마이페이지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주문내역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2807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찜 목록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내 리뷰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내 식물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685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회원정보 수정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회원 탈퇴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내 식물 (3)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057400"/>
            <a:ext cx="914400" cy="237744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+ 식물 등록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2423160"/>
            <a:ext cx="1234440" cy="18745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514600"/>
            <a:ext cx="502920" cy="50292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11680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초록이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32461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몬스테라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331720" y="3447288"/>
            <a:ext cx="594360" cy="201168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tx2"/>
                </a:solidFill>
              </a:rPr>
              <a:t>물주기 D-2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121408" y="3749040"/>
            <a:ext cx="1005840" cy="64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2121408" y="3749040"/>
            <a:ext cx="70408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" name="Text 32"/>
          <p:cNvSpPr/>
          <p:nvPr/>
        </p:nvSpPr>
        <p:spPr>
          <a:xfrm>
            <a:off x="2121408" y="3931920"/>
            <a:ext cx="1005840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tx2"/>
                </a:solidFill>
              </a:rPr>
              <a:t>물 줬어요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28416" y="2423160"/>
            <a:ext cx="1234440" cy="18745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94176" y="2514600"/>
            <a:ext cx="502920" cy="50292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28416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뾰족이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28416" y="32461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스투키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48456" y="3447288"/>
            <a:ext cx="594360" cy="201168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tx2"/>
                </a:solidFill>
              </a:rPr>
              <a:t>물주기 D-9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438144" y="3749040"/>
            <a:ext cx="1005840" cy="64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Shape 39"/>
          <p:cNvSpPr/>
          <p:nvPr/>
        </p:nvSpPr>
        <p:spPr>
          <a:xfrm>
            <a:off x="3438144" y="3749040"/>
            <a:ext cx="301752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2" name="Text 40"/>
          <p:cNvSpPr/>
          <p:nvPr/>
        </p:nvSpPr>
        <p:spPr>
          <a:xfrm>
            <a:off x="3438144" y="3931920"/>
            <a:ext cx="1005840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tx2"/>
                </a:solidFill>
              </a:rPr>
              <a:t>물 줬어요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45152" y="2423160"/>
            <a:ext cx="1234440" cy="18745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10912" y="2514600"/>
            <a:ext cx="502920" cy="50292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45152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동글이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645152" y="32461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필레아 페페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65192" y="3447288"/>
            <a:ext cx="594360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</a:rPr>
              <a:t>물주기 오늘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54880" y="3749040"/>
            <a:ext cx="1005840" cy="64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0" y="3749040"/>
            <a:ext cx="100584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3931920"/>
            <a:ext cx="1005840" cy="237744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물 줬어요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2011680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이번 주 물주기 일정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011680" y="4617720"/>
            <a:ext cx="521208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011680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월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564892" y="4617720"/>
            <a:ext cx="521208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564892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화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18104" y="4617720"/>
            <a:ext cx="521208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18104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수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671316" y="4617720"/>
            <a:ext cx="521208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671316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목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872484" y="4873752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1" name="Shape 59"/>
          <p:cNvSpPr/>
          <p:nvPr/>
        </p:nvSpPr>
        <p:spPr>
          <a:xfrm>
            <a:off x="4224528" y="4617720"/>
            <a:ext cx="521208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224528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777740" y="4617720"/>
            <a:ext cx="521208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777740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토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978908" y="4873752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6" name="Shape 64"/>
          <p:cNvSpPr/>
          <p:nvPr/>
        </p:nvSpPr>
        <p:spPr>
          <a:xfrm>
            <a:off x="5330952" y="4617720"/>
            <a:ext cx="521208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330952" y="462686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일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S-07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내 식물 · 물주기 관리 (차별화 기능)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구매한 식물 등록, 다음 물주기 D-day와 진행 막대, ‘물 줬어요’로 일정 재계산, 주간 일정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153912" y="132588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2200" y="1344168"/>
            <a:ext cx="5449824" cy="2377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2" name="Shape 70"/>
          <p:cNvSpPr/>
          <p:nvPr/>
        </p:nvSpPr>
        <p:spPr>
          <a:xfrm>
            <a:off x="6263640" y="140817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3" name="Shape 71"/>
          <p:cNvSpPr/>
          <p:nvPr/>
        </p:nvSpPr>
        <p:spPr>
          <a:xfrm>
            <a:off x="6391656" y="1408176"/>
            <a:ext cx="82296" cy="822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4" name="Shape 72"/>
          <p:cNvSpPr/>
          <p:nvPr/>
        </p:nvSpPr>
        <p:spPr>
          <a:xfrm>
            <a:off x="6519672" y="140817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5" name="Text 73"/>
          <p:cNvSpPr/>
          <p:nvPr/>
        </p:nvSpPr>
        <p:spPr>
          <a:xfrm>
            <a:off x="6702552" y="1371600"/>
            <a:ext cx="29260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762" rIns="762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greenbox.com/admin/products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172200" y="1581912"/>
            <a:ext cx="1188720" cy="3703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291072" y="1673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GreenBox ADMIN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6336792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대시보드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72200" y="2414016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336792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상품 관리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6336792" y="2761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주문 관리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6336792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회원 관리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6336792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Q&amp;A 관리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6336792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공지사항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7525512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상품 관리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525512" y="2084832"/>
            <a:ext cx="731520" cy="2194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571232" y="20848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카테고리 ▾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330184" y="2084832"/>
            <a:ext cx="1463040" cy="2194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375904" y="2084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상품명 검색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9857232" y="2084832"/>
            <a:ext cx="457200" cy="21945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검색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588752" y="2084832"/>
            <a:ext cx="914400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+ 상품 등록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525512" y="2450592"/>
            <a:ext cx="3977640" cy="2560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757123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No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784555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이미지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834847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상품명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940003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가격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994867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재고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1031443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상태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10863072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관리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7571232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12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845552" y="2788920"/>
            <a:ext cx="292608" cy="29260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845552" y="2788920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845552" y="2788920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7845552" y="2788920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348472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몬스테라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9400032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29,000</a:t>
            </a:r>
            <a:endParaRPr lang="en-US" sz="800" dirty="0"/>
          </a:p>
        </p:txBody>
      </p:sp>
      <p:sp>
        <p:nvSpPr>
          <p:cNvPr id="107" name="Text 105"/>
          <p:cNvSpPr txBox="1"/>
          <p:nvPr/>
        </p:nvSpPr>
        <p:spPr>
          <a:xfrm>
            <a:off x="994867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34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0314432" y="2843784"/>
            <a:ext cx="457200" cy="164592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bg1"/>
                </a:solidFill>
              </a:rPr>
              <a:t>판매중</a:t>
            </a:r>
            <a:endParaRPr lang="en-US" sz="650" dirty="0"/>
          </a:p>
        </p:txBody>
      </p:sp>
      <p:sp>
        <p:nvSpPr>
          <p:cNvPr id="109" name="Text 107"/>
          <p:cNvSpPr txBox="1"/>
          <p:nvPr/>
        </p:nvSpPr>
        <p:spPr>
          <a:xfrm>
            <a:off x="10863072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수정 · 삭제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7525512" y="3127248"/>
            <a:ext cx="3977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571232" y="31455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11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845552" y="3191256"/>
            <a:ext cx="292608" cy="29260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845552" y="3191256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45552" y="3191256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7845552" y="3191256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348472" y="3145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스투키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9400032" y="3145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18,000</a:t>
            </a:r>
            <a:endParaRPr lang="en-US" sz="800" dirty="0"/>
          </a:p>
        </p:txBody>
      </p:sp>
      <p:sp>
        <p:nvSpPr>
          <p:cNvPr id="118" name="Text 116"/>
          <p:cNvSpPr txBox="1"/>
          <p:nvPr/>
        </p:nvSpPr>
        <p:spPr>
          <a:xfrm>
            <a:off x="994867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0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10314432" y="3246120"/>
            <a:ext cx="457200" cy="164592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bg1"/>
                </a:solidFill>
              </a:rPr>
              <a:t>품절</a:t>
            </a:r>
            <a:endParaRPr lang="en-US" sz="650" dirty="0"/>
          </a:p>
        </p:txBody>
      </p:sp>
      <p:sp>
        <p:nvSpPr>
          <p:cNvPr id="120" name="Text 118"/>
          <p:cNvSpPr txBox="1"/>
          <p:nvPr/>
        </p:nvSpPr>
        <p:spPr>
          <a:xfrm>
            <a:off x="10863072" y="3145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수정 · 삭제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7525512" y="3529584"/>
            <a:ext cx="3977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571232" y="3547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10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845552" y="3593592"/>
            <a:ext cx="292608" cy="29260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845552" y="3593592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845552" y="3593592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7845552" y="3593592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8348472" y="3547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올리브나무</a:t>
            </a:r>
            <a:endParaRPr lang="en-US" sz="800" dirty="0"/>
          </a:p>
        </p:txBody>
      </p:sp>
      <p:sp>
        <p:nvSpPr>
          <p:cNvPr id="128" name="Text 126"/>
          <p:cNvSpPr txBox="1"/>
          <p:nvPr/>
        </p:nvSpPr>
        <p:spPr>
          <a:xfrm>
            <a:off x="9400032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42,000</a:t>
            </a:r>
            <a:endParaRPr lang="en-US" sz="800" dirty="0"/>
          </a:p>
        </p:txBody>
      </p:sp>
      <p:sp>
        <p:nvSpPr>
          <p:cNvPr id="129" name="Text 127"/>
          <p:cNvSpPr txBox="1"/>
          <p:nvPr/>
        </p:nvSpPr>
        <p:spPr>
          <a:xfrm>
            <a:off x="9948672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8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10314432" y="3648456"/>
            <a:ext cx="457200" cy="164592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bg1"/>
                </a:solidFill>
              </a:rPr>
              <a:t>판매중</a:t>
            </a:r>
            <a:endParaRPr lang="en-US" sz="650" dirty="0"/>
          </a:p>
        </p:txBody>
      </p:sp>
      <p:sp>
        <p:nvSpPr>
          <p:cNvPr id="131" name="Text 129"/>
          <p:cNvSpPr txBox="1"/>
          <p:nvPr/>
        </p:nvSpPr>
        <p:spPr>
          <a:xfrm>
            <a:off x="10863072" y="3547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수정 · 삭제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7525512" y="3931920"/>
            <a:ext cx="3977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7571232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9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845552" y="3995928"/>
            <a:ext cx="292608" cy="29260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845552" y="3995928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845552" y="3995928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845552" y="3995928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348472" y="3950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토분 15cm</a:t>
            </a:r>
            <a:endParaRPr lang="en-US" sz="800" dirty="0"/>
          </a:p>
        </p:txBody>
      </p:sp>
      <p:sp>
        <p:nvSpPr>
          <p:cNvPr id="139" name="Text 137"/>
          <p:cNvSpPr txBox="1"/>
          <p:nvPr/>
        </p:nvSpPr>
        <p:spPr>
          <a:xfrm>
            <a:off x="9400032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8,000</a:t>
            </a:r>
            <a:endParaRPr lang="en-US" sz="800" dirty="0"/>
          </a:p>
        </p:txBody>
      </p:sp>
      <p:sp>
        <p:nvSpPr>
          <p:cNvPr id="140" name="Text 138"/>
          <p:cNvSpPr txBox="1"/>
          <p:nvPr/>
        </p:nvSpPr>
        <p:spPr>
          <a:xfrm>
            <a:off x="9948672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120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10314432" y="4050792"/>
            <a:ext cx="457200" cy="164592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bg1"/>
                </a:solidFill>
              </a:rPr>
              <a:t>판매중</a:t>
            </a:r>
            <a:endParaRPr lang="en-US" sz="650" dirty="0"/>
          </a:p>
        </p:txBody>
      </p:sp>
      <p:sp>
        <p:nvSpPr>
          <p:cNvPr id="142" name="Text 140"/>
          <p:cNvSpPr txBox="1"/>
          <p:nvPr/>
        </p:nvSpPr>
        <p:spPr>
          <a:xfrm>
            <a:off x="10863072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수정 · 삭제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7525512" y="4334256"/>
            <a:ext cx="3977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7571232" y="4352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8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845552" y="4398264"/>
            <a:ext cx="292608" cy="29260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845552" y="4398264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845552" y="4398264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7845552" y="4398264"/>
            <a:ext cx="292608" cy="292608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8348472" y="43525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분갈이 흙 2L</a:t>
            </a:r>
            <a:endParaRPr lang="en-US" sz="800" dirty="0"/>
          </a:p>
        </p:txBody>
      </p:sp>
      <p:sp>
        <p:nvSpPr>
          <p:cNvPr id="150" name="Text 148"/>
          <p:cNvSpPr txBox="1"/>
          <p:nvPr/>
        </p:nvSpPr>
        <p:spPr>
          <a:xfrm>
            <a:off x="9400032" y="4352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4,500</a:t>
            </a:r>
            <a:endParaRPr lang="en-US" sz="800" dirty="0"/>
          </a:p>
        </p:txBody>
      </p:sp>
      <p:sp>
        <p:nvSpPr>
          <p:cNvPr id="151" name="Text 149"/>
          <p:cNvSpPr txBox="1"/>
          <p:nvPr/>
        </p:nvSpPr>
        <p:spPr>
          <a:xfrm>
            <a:off x="9948672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56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10314432" y="4453128"/>
            <a:ext cx="45720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2"/>
                </a:solidFill>
              </a:rPr>
              <a:t>숨김</a:t>
            </a:r>
            <a:endParaRPr lang="en-US" sz="650" dirty="0"/>
          </a:p>
        </p:txBody>
      </p:sp>
      <p:sp>
        <p:nvSpPr>
          <p:cNvPr id="153" name="Text 151"/>
          <p:cNvSpPr txBox="1"/>
          <p:nvPr/>
        </p:nvSpPr>
        <p:spPr>
          <a:xfrm>
            <a:off x="10863072" y="4352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수정 · 삭제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7525512" y="4736592"/>
            <a:ext cx="3977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7525512" y="4919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‹  1  2  3  ›</a:t>
            </a:r>
            <a:endParaRPr lang="en-US" sz="800" dirty="0"/>
          </a:p>
        </p:txBody>
      </p:sp>
      <p:sp>
        <p:nvSpPr>
          <p:cNvPr id="156" name="Text 154"/>
          <p:cNvSpPr txBox="1"/>
          <p:nvPr/>
        </p:nvSpPr>
        <p:spPr>
          <a:xfrm>
            <a:off x="6153912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S-08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관리자 — 상품 관리</a:t>
            </a:r>
            <a:endParaRPr lang="en-US" sz="1400" dirty="0"/>
          </a:p>
        </p:txBody>
      </p:sp>
      <p:sp>
        <p:nvSpPr>
          <p:cNvPr id="157" name="Text 155"/>
          <p:cNvSpPr txBox="1"/>
          <p:nvPr/>
        </p:nvSpPr>
        <p:spPr>
          <a:xfrm>
            <a:off x="6153912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카테고리 · 상품명 검색, 상품 등록 · 수정 · 삭제(숨김), 재고 0이면 강조 및 품절 상태 표시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09  SITEMAP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사이트맵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818888" y="1325880"/>
            <a:ext cx="25603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GreenBox 홈  ( / 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9048" y="18288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2057400"/>
            <a:ext cx="9345168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20574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17190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회원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0" cy="142646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16382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로그인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6674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472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회원가입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7764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비밀번호 찾기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7210" y="20574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17674" y="2286000"/>
            <a:ext cx="17190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쇼핑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54834" y="2743200"/>
            <a:ext cx="0" cy="2432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4834" y="316382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1994" y="297180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전체 상품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54834" y="366674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1994" y="347472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카테고리별 상품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4834" y="416966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1994" y="397764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식물 맞춤 찾기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54834" y="467258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1994" y="448056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상품 검색 결과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4834" y="517550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1994" y="498348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상품 상세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46243" y="20574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86707" y="2286000"/>
            <a:ext cx="17190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주문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423867" y="2743200"/>
            <a:ext cx="0" cy="142646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23867" y="316382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1027" y="297180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장바구니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68619" y="31089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Shape 33"/>
          <p:cNvSpPr/>
          <p:nvPr/>
        </p:nvSpPr>
        <p:spPr>
          <a:xfrm>
            <a:off x="4423867" y="366674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61027" y="347472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주문 / 결제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68619" y="361188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Shape 36"/>
          <p:cNvSpPr/>
          <p:nvPr/>
        </p:nvSpPr>
        <p:spPr>
          <a:xfrm>
            <a:off x="4423867" y="416966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61027" y="397764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주문 완료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68619" y="411480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Shape 39"/>
          <p:cNvSpPr/>
          <p:nvPr/>
        </p:nvSpPr>
        <p:spPr>
          <a:xfrm>
            <a:off x="7015277" y="20574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5741" y="2286000"/>
            <a:ext cx="17190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마이페이지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292901" y="2743200"/>
            <a:ext cx="0" cy="2432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2901" y="316382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0061" y="297180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주문 내역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37653" y="31089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7" name="Shape 45"/>
          <p:cNvSpPr/>
          <p:nvPr/>
        </p:nvSpPr>
        <p:spPr>
          <a:xfrm>
            <a:off x="6292901" y="366674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0061" y="347472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찜 목록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37653" y="361188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0" name="Shape 48"/>
          <p:cNvSpPr/>
          <p:nvPr/>
        </p:nvSpPr>
        <p:spPr>
          <a:xfrm>
            <a:off x="6292901" y="416966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0061" y="397764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내 리뷰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737653" y="411480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3" name="Shape 51"/>
          <p:cNvSpPr/>
          <p:nvPr/>
        </p:nvSpPr>
        <p:spPr>
          <a:xfrm>
            <a:off x="6292901" y="467258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0061" y="448056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내 식물 · 물주기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737653" y="461772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6" name="Shape 54"/>
          <p:cNvSpPr/>
          <p:nvPr/>
        </p:nvSpPr>
        <p:spPr>
          <a:xfrm>
            <a:off x="6292901" y="517550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30061" y="498348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회원정보 수정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737653" y="512064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9" name="Shape 57"/>
          <p:cNvSpPr/>
          <p:nvPr/>
        </p:nvSpPr>
        <p:spPr>
          <a:xfrm>
            <a:off x="8884310" y="20574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24774" y="2286000"/>
            <a:ext cx="17190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고객센터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8161934" y="2743200"/>
            <a:ext cx="0" cy="92354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61934" y="316382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99094" y="297180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공지사항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161934" y="366674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99094" y="347472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상품 Q&amp;A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753344" y="205740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93808" y="2286000"/>
            <a:ext cx="1719072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관리자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0030968" y="2743200"/>
            <a:ext cx="0" cy="2432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30968" y="316382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168128" y="297180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대시보드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1475720" y="310896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2" name="Shape 70"/>
          <p:cNvSpPr/>
          <p:nvPr/>
        </p:nvSpPr>
        <p:spPr>
          <a:xfrm>
            <a:off x="10030968" y="366674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168128" y="347472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상품 관리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1475720" y="36118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5" name="Shape 73"/>
          <p:cNvSpPr/>
          <p:nvPr/>
        </p:nvSpPr>
        <p:spPr>
          <a:xfrm>
            <a:off x="10030968" y="416966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68128" y="397764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주문 관리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1475720" y="411480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8" name="Shape 76"/>
          <p:cNvSpPr/>
          <p:nvPr/>
        </p:nvSpPr>
        <p:spPr>
          <a:xfrm>
            <a:off x="10030968" y="467258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168128" y="448056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회원 관리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1475720" y="461772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1" name="Shape 79"/>
          <p:cNvSpPr/>
          <p:nvPr/>
        </p:nvSpPr>
        <p:spPr>
          <a:xfrm>
            <a:off x="10030968" y="5175504"/>
            <a:ext cx="1371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168128" y="4983480"/>
            <a:ext cx="1444752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0" tIns="1524" rIns="1016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Q&amp;A · 공지 관리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1475720" y="51206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4" name="Shape 82"/>
          <p:cNvSpPr/>
          <p:nvPr/>
        </p:nvSpPr>
        <p:spPr>
          <a:xfrm>
            <a:off x="548640" y="603504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749808" y="5980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로그인 필요(USER)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514600" y="60350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2715768" y="5980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관리자 전용(ADMIN, /admin/**)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10  ENVIRONMENT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개발 환경 및 시스템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0632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46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Backend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Java 17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Spring Boot 3.x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Spring Data JPA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Spring Security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Gradle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0" y="1417320"/>
            <a:ext cx="30632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0690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213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1746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Frontend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23317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Thymeleaf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HTML5 · CSS3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JavaScript (Fetch)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Bootstrap 5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30632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1714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Database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7091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MySQL 8.0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ERDCloud (ERD 설계)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840480" y="3794760"/>
            <a:ext cx="30632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406908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213" y="417149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5488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Tools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114800" y="47091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IntelliJ IDEA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 · GitHub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Figma (화면 설계)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Postman · Notion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452360" y="1417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요청 처리 흐름 (Layered Architecture)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52360" y="1874520"/>
            <a:ext cx="416052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브라우저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Thymeleaf 화면 · AJAX(Fetch)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441180" y="2423160"/>
            <a:ext cx="18288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7" name="Text 21"/>
          <p:cNvSpPr/>
          <p:nvPr/>
        </p:nvSpPr>
        <p:spPr>
          <a:xfrm>
            <a:off x="7452360" y="2587752"/>
            <a:ext cx="4160520" cy="530352"/>
          </a:xfrm>
          <a:prstGeom prst="roundRect">
            <a:avLst>
              <a:gd name="adj" fmla="val 13793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Spring Security Filter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인증 · 권한(USER / ADMIN) 검사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441180" y="3136392"/>
            <a:ext cx="18288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9" name="Text 23"/>
          <p:cNvSpPr/>
          <p:nvPr/>
        </p:nvSpPr>
        <p:spPr>
          <a:xfrm>
            <a:off x="7452360" y="3300984"/>
            <a:ext cx="416052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@Controller · DTO 검증(@Valid)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441180" y="3849624"/>
            <a:ext cx="18288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31" name="Text 25"/>
          <p:cNvSpPr/>
          <p:nvPr/>
        </p:nvSpPr>
        <p:spPr>
          <a:xfrm>
            <a:off x="7452360" y="4014216"/>
            <a:ext cx="416052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비즈니스 로직 · @Transactional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441180" y="4562856"/>
            <a:ext cx="18288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33" name="Text 27"/>
          <p:cNvSpPr/>
          <p:nvPr/>
        </p:nvSpPr>
        <p:spPr>
          <a:xfrm>
            <a:off x="7452360" y="4727448"/>
            <a:ext cx="416052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Spring Data JPA (Entity ↔ Table)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441180" y="5276088"/>
            <a:ext cx="18288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35" name="Text 29"/>
          <p:cNvSpPr/>
          <p:nvPr/>
        </p:nvSpPr>
        <p:spPr>
          <a:xfrm>
            <a:off x="7452360" y="5440680"/>
            <a:ext cx="416052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MySQL 8.0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13개 테이블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10  SCHEDULE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개발 일정 (6주)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566160" y="1417320"/>
            <a:ext cx="13411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1주차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783080"/>
            <a:ext cx="1341120" cy="4160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Text 4"/>
          <p:cNvSpPr/>
          <p:nvPr/>
        </p:nvSpPr>
        <p:spPr>
          <a:xfrm>
            <a:off x="4907280" y="1417320"/>
            <a:ext cx="134112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2주차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07280" y="1783080"/>
            <a:ext cx="1341120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6248400" y="1417320"/>
            <a:ext cx="13411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3주차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8400" y="1783080"/>
            <a:ext cx="1341120" cy="4160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417320"/>
            <a:ext cx="134112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4주차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783080"/>
            <a:ext cx="1341120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/>
          <p:nvPr/>
        </p:nvSpPr>
        <p:spPr>
          <a:xfrm>
            <a:off x="8930640" y="1417320"/>
            <a:ext cx="13411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5주차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30640" y="1783080"/>
            <a:ext cx="1341120" cy="4160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Text 12"/>
          <p:cNvSpPr/>
          <p:nvPr/>
        </p:nvSpPr>
        <p:spPr>
          <a:xfrm>
            <a:off x="10271760" y="1417320"/>
            <a:ext cx="134112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6주차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71760" y="1783080"/>
            <a:ext cx="1341120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9842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주제 선정 · 기획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02736" y="1938528"/>
            <a:ext cx="1267968" cy="384048"/>
          </a:xfrm>
          <a:prstGeom prst="roundRect">
            <a:avLst>
              <a:gd name="adj" fmla="val 19048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기획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5117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요구사항 · 기능 정의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73296" y="2505456"/>
            <a:ext cx="1267968" cy="384048"/>
          </a:xfrm>
          <a:prstGeom prst="roundRect">
            <a:avLst>
              <a:gd name="adj" fmla="val 19048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기획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181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ERD · 테이블 · 화면 설계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43856" y="3072384"/>
            <a:ext cx="126796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설계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개발 환경 · 공통 레이아웃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14416" y="3639312"/>
            <a:ext cx="126796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환경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51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기능 개발 (모듈별 feature 브랜치)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84976" y="4206240"/>
            <a:ext cx="395020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회원 → 상품 → 주문 → 관리자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188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통합 테스트 · 버그 수정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37776" y="4773168"/>
            <a:ext cx="140208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테스트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8581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시연 영상 · 결과보고서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10672" y="5340096"/>
            <a:ext cx="865632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제출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※ 실제 과정 일정(시작일 · 발표일)에 맞춰 주차를 날짜로 바꿔 사용하세요.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10  COLLABORATION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GitHub 협업 · 버전관리 전략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0" y="1691640"/>
            <a:ext cx="429768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develop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377440"/>
            <a:ext cx="429768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feature/member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3063240"/>
            <a:ext cx="265176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377440"/>
            <a:ext cx="320040" cy="6858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669280" y="2377440"/>
            <a:ext cx="320040" cy="6858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29900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29900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776" y="29900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feature/product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3749040"/>
            <a:ext cx="25146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377440"/>
            <a:ext cx="320040" cy="1371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852160" y="2377440"/>
            <a:ext cx="320040" cy="1371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67328" y="36758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1708" y="36758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088" y="36758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feature/order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4434840"/>
            <a:ext cx="237744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377440"/>
            <a:ext cx="320040" cy="20574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035040" y="2377440"/>
            <a:ext cx="320040" cy="20574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59936" y="43616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43616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43616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983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feature/admin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77640" y="5120640"/>
            <a:ext cx="224028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2377440"/>
            <a:ext cx="320040" cy="27432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217920" y="2377440"/>
            <a:ext cx="320040" cy="27432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352544" y="50474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4628" y="50474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96712" y="5047488"/>
            <a:ext cx="146304" cy="1463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1600200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Shape 35"/>
          <p:cNvSpPr/>
          <p:nvPr/>
        </p:nvSpPr>
        <p:spPr>
          <a:xfrm>
            <a:off x="6629400" y="1600200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8" name="Shape 36"/>
          <p:cNvSpPr/>
          <p:nvPr/>
        </p:nvSpPr>
        <p:spPr>
          <a:xfrm flipV="1">
            <a:off x="6446520" y="1691640"/>
            <a:ext cx="274320" cy="6858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669280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최종 릴리스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560320" y="5440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 생성 · 셀프 리뷰 후 develop에 병합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69480" y="1371600"/>
            <a:ext cx="4343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98080" y="1490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브랜치 규칙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498080" y="17922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main은 배포용, develop은 통합용. 기능 모듈별 feature 브랜치에서 작업하고 main에 직접 push하지 않음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269480" y="2560320"/>
            <a:ext cx="4343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98080" y="2679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커밋 컨벤션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29809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feat: 기능 · fix: 버그 · docs: 문서 · refactor: 리팩터링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예) feat: 장바구니 수량 변경 기능 추가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269480" y="3749040"/>
            <a:ext cx="4343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98080" y="3867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Pull Request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7498080" y="41696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feature → develop PR 생성, 변경 내용 셀프 리뷰 · 동작 확인 후 Merge하여 이력을 남김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269480" y="4937760"/>
            <a:ext cx="4343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498080" y="5056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작업 흐름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498080" y="53583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Issue 등록 → git pull origin develop → 작업 · commit → push → PR → 리뷰 → Merge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282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Q &amp; 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GitHub  github.com/[저장소 주소]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4884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Box">
  <a:themeElements>
    <a:clrScheme name="GreenBox">
      <a:dk1>
        <a:srgbClr val="1C2B22"/>
      </a:dk1>
      <a:lt1>
        <a:srgbClr val="FFFFFF"/>
      </a:lt1>
      <a:dk2>
        <a:srgbClr val="1F3D2B"/>
      </a:dk2>
      <a:lt2>
        <a:srgbClr val="EEF4EC"/>
      </a:lt2>
      <a:accent1>
        <a:srgbClr val="2E6B45"/>
      </a:accent1>
      <a:accent2>
        <a:srgbClr val="D9734E"/>
      </a:accent2>
      <a:accent3>
        <a:srgbClr val="8DB580"/>
      </a:accent3>
      <a:accent4>
        <a:srgbClr val="F2C14E"/>
      </a:accent4>
      <a:accent5>
        <a:srgbClr val="5B7B8C"/>
      </a:accent5>
      <a:accent6>
        <a:srgbClr val="B9C6BC"/>
      </a:accent6>
      <a:hlink>
        <a:srgbClr val="2E6B45"/>
      </a:hlink>
      <a:folHlink>
        <a:srgbClr val="5B7B8C"/>
      </a:folHlink>
    </a:clrScheme>
    <a:fontScheme name="GreenBox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그린박스 반려식물 쇼핑몰 설계 결과보고서</dc:title>
  <dc:subject>PptxGenJS Presentation</dc:subject>
  <dc:creator>1팀</dc:creator>
  <cp:lastModifiedBy>1팀</cp:lastModifiedBy>
  <cp:revision>1</cp:revision>
  <dcterms:created xsi:type="dcterms:W3CDTF">2026-10-22T07:10:41Z</dcterms:created>
  <dcterms:modified xsi:type="dcterms:W3CDTF">2026-10-22T07:10:41Z</dcterms:modified>
</cp:coreProperties>
</file>